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3E"/>
    <a:srgbClr val="0A78AA"/>
    <a:srgbClr val="0E6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B1140-731D-42C4-841F-43C719696ABE}" v="4" dt="2026-07-14T15:54:46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6187" autoAdjust="0"/>
  </p:normalViewPr>
  <p:slideViewPr>
    <p:cSldViewPr snapToGrid="0" snapToObjects="1">
      <p:cViewPr varScale="1">
        <p:scale>
          <a:sx n="105" d="100"/>
          <a:sy n="105" d="100"/>
        </p:scale>
        <p:origin x="3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sorcio Paldaca" userId="3e56ee074a93ca0a" providerId="LiveId" clId="{85A9BFF3-C257-498A-9EF8-06F019700099}"/>
    <pc:docChg chg="undo custSel modSld">
      <pc:chgData name="Consorcio Paldaca" userId="3e56ee074a93ca0a" providerId="LiveId" clId="{85A9BFF3-C257-498A-9EF8-06F019700099}" dt="2026-07-14T16:08:31.635" v="195" actId="20577"/>
      <pc:docMkLst>
        <pc:docMk/>
      </pc:docMkLst>
      <pc:sldChg chg="addSp delSp modSp mod modNotesTx">
        <pc:chgData name="Consorcio Paldaca" userId="3e56ee074a93ca0a" providerId="LiveId" clId="{85A9BFF3-C257-498A-9EF8-06F019700099}" dt="2026-07-14T15:57:41.412" v="162" actId="20577"/>
        <pc:sldMkLst>
          <pc:docMk/>
          <pc:sldMk cId="0" sldId="256"/>
        </pc:sldMkLst>
        <pc:spChg chg="mod">
          <ac:chgData name="Consorcio Paldaca" userId="3e56ee074a93ca0a" providerId="LiveId" clId="{85A9BFF3-C257-498A-9EF8-06F019700099}" dt="2026-06-25T12:52:01.656" v="79" actId="14100"/>
          <ac:spMkLst>
            <pc:docMk/>
            <pc:sldMk cId="0" sldId="256"/>
            <ac:spMk id="2" creationId="{FDD4AD8C-331C-3026-4C6C-D2C2E18BDFB0}"/>
          </ac:spMkLst>
        </pc:spChg>
        <pc:spChg chg="mod">
          <ac:chgData name="Consorcio Paldaca" userId="3e56ee074a93ca0a" providerId="LiveId" clId="{85A9BFF3-C257-498A-9EF8-06F019700099}" dt="2026-06-25T12:52:12.255" v="81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Consorcio Paldaca" userId="3e56ee074a93ca0a" providerId="LiveId" clId="{85A9BFF3-C257-498A-9EF8-06F019700099}" dt="2026-06-25T12:47:20.806" v="32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Consorcio Paldaca" userId="3e56ee074a93ca0a" providerId="LiveId" clId="{85A9BFF3-C257-498A-9EF8-06F019700099}" dt="2026-06-25T12:46:39.402" v="11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Consorcio Paldaca" userId="3e56ee074a93ca0a" providerId="LiveId" clId="{85A9BFF3-C257-498A-9EF8-06F019700099}" dt="2026-06-25T12:47:16.583" v="31" actId="10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Consorcio Paldaca" userId="3e56ee074a93ca0a" providerId="LiveId" clId="{85A9BFF3-C257-498A-9EF8-06F019700099}" dt="2026-06-25T12:47:37.486" v="33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7:41.412" v="162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Consorcio Paldaca" userId="3e56ee074a93ca0a" providerId="LiveId" clId="{85A9BFF3-C257-498A-9EF8-06F019700099}" dt="2026-06-25T12:52:04.480" v="80" actId="14100"/>
          <ac:spMkLst>
            <pc:docMk/>
            <pc:sldMk cId="0" sldId="256"/>
            <ac:spMk id="14" creationId="{E5D87810-52C8-C3E0-B089-2B01FD729060}"/>
          </ac:spMkLst>
        </pc:spChg>
        <pc:picChg chg="add mod">
          <ac:chgData name="Consorcio Paldaca" userId="3e56ee074a93ca0a" providerId="LiveId" clId="{85A9BFF3-C257-498A-9EF8-06F019700099}" dt="2026-06-25T12:46:39.402" v="11" actId="1076"/>
          <ac:picMkLst>
            <pc:docMk/>
            <pc:sldMk cId="0" sldId="256"/>
            <ac:picMk id="6" creationId="{3EFADE1B-AA0A-5EE9-BA0D-F410DF15B792}"/>
          </ac:picMkLst>
        </pc:picChg>
        <pc:picChg chg="mod">
          <ac:chgData name="Consorcio Paldaca" userId="3e56ee074a93ca0a" providerId="LiveId" clId="{85A9BFF3-C257-498A-9EF8-06F019700099}" dt="2026-06-25T12:48:57.744" v="40" actId="14100"/>
          <ac:picMkLst>
            <pc:docMk/>
            <pc:sldMk cId="0" sldId="256"/>
            <ac:picMk id="13" creationId="{A520F486-E61B-9E98-2DEC-5CAACA040DDB}"/>
          </ac:picMkLst>
        </pc:picChg>
      </pc:sldChg>
      <pc:sldChg chg="modNotesTx">
        <pc:chgData name="Consorcio Paldaca" userId="3e56ee074a93ca0a" providerId="LiveId" clId="{85A9BFF3-C257-498A-9EF8-06F019700099}" dt="2026-07-14T15:52:00.181" v="121" actId="20577"/>
        <pc:sldMkLst>
          <pc:docMk/>
          <pc:sldMk cId="0" sldId="257"/>
        </pc:sldMkLst>
      </pc:sldChg>
      <pc:sldChg chg="modSp mod modNotesTx">
        <pc:chgData name="Consorcio Paldaca" userId="3e56ee074a93ca0a" providerId="LiveId" clId="{85A9BFF3-C257-498A-9EF8-06F019700099}" dt="2026-07-14T16:07:08.817" v="182" actId="1076"/>
        <pc:sldMkLst>
          <pc:docMk/>
          <pc:sldMk cId="0" sldId="258"/>
        </pc:sldMkLst>
        <pc:spChg chg="mod">
          <ac:chgData name="Consorcio Paldaca" userId="3e56ee074a93ca0a" providerId="LiveId" clId="{85A9BFF3-C257-498A-9EF8-06F019700099}" dt="2026-07-14T16:07:08.817" v="182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6:07:04.434" v="181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6:07:01.953" v="180" actId="1076"/>
          <ac:spMkLst>
            <pc:docMk/>
            <pc:sldMk cId="0" sldId="258"/>
            <ac:spMk id="11" creationId="{00000000-0000-0000-0000-000000000000}"/>
          </ac:spMkLst>
        </pc:spChg>
      </pc:sldChg>
      <pc:sldChg chg="modSp mod modNotesTx">
        <pc:chgData name="Consorcio Paldaca" userId="3e56ee074a93ca0a" providerId="LiveId" clId="{85A9BFF3-C257-498A-9EF8-06F019700099}" dt="2026-07-14T16:08:31.635" v="195" actId="20577"/>
        <pc:sldMkLst>
          <pc:docMk/>
          <pc:sldMk cId="0" sldId="259"/>
        </pc:sldMkLst>
        <pc:spChg chg="mod">
          <ac:chgData name="Consorcio Paldaca" userId="3e56ee074a93ca0a" providerId="LiveId" clId="{85A9BFF3-C257-498A-9EF8-06F019700099}" dt="2026-07-14T16:08:31.635" v="195" actId="20577"/>
          <ac:spMkLst>
            <pc:docMk/>
            <pc:sldMk cId="0" sldId="259"/>
            <ac:spMk id="62" creationId="{48CE50AE-3061-7A89-AE45-E9A3BA37C4B8}"/>
          </ac:spMkLst>
        </pc:spChg>
        <pc:spChg chg="mod">
          <ac:chgData name="Consorcio Paldaca" userId="3e56ee074a93ca0a" providerId="LiveId" clId="{85A9BFF3-C257-498A-9EF8-06F019700099}" dt="2026-07-14T15:58:42.050" v="167" actId="14100"/>
          <ac:spMkLst>
            <pc:docMk/>
            <pc:sldMk cId="0" sldId="259"/>
            <ac:spMk id="66" creationId="{FA905DE7-6F8F-400F-EC77-0C61A0920BEE}"/>
          </ac:spMkLst>
        </pc:spChg>
      </pc:sldChg>
      <pc:sldChg chg="modNotesTx">
        <pc:chgData name="Consorcio Paldaca" userId="3e56ee074a93ca0a" providerId="LiveId" clId="{85A9BFF3-C257-498A-9EF8-06F019700099}" dt="2026-07-14T15:52:08.758" v="124" actId="20577"/>
        <pc:sldMkLst>
          <pc:docMk/>
          <pc:sldMk cId="0" sldId="260"/>
        </pc:sldMkLst>
      </pc:sldChg>
      <pc:sldChg chg="modNotesTx">
        <pc:chgData name="Consorcio Paldaca" userId="3e56ee074a93ca0a" providerId="LiveId" clId="{85A9BFF3-C257-498A-9EF8-06F019700099}" dt="2026-07-14T15:52:13.532" v="126" actId="6549"/>
        <pc:sldMkLst>
          <pc:docMk/>
          <pc:sldMk cId="0" sldId="261"/>
        </pc:sldMkLst>
      </pc:sldChg>
      <pc:sldChg chg="addSp delSp modSp mod modNotesTx">
        <pc:chgData name="Consorcio Paldaca" userId="3e56ee074a93ca0a" providerId="LiveId" clId="{85A9BFF3-C257-498A-9EF8-06F019700099}" dt="2026-07-14T15:59:48.330" v="168" actId="14100"/>
        <pc:sldMkLst>
          <pc:docMk/>
          <pc:sldMk cId="0" sldId="262"/>
        </pc:sldMkLst>
        <pc:spChg chg="mod">
          <ac:chgData name="Consorcio Paldaca" userId="3e56ee074a93ca0a" providerId="LiveId" clId="{85A9BFF3-C257-498A-9EF8-06F019700099}" dt="2026-07-14T15:59:48.330" v="168" actId="14100"/>
          <ac:spMkLst>
            <pc:docMk/>
            <pc:sldMk cId="0" sldId="262"/>
            <ac:spMk id="5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3:55.525" v="130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14.556" v="135"/>
          <ac:spMkLst>
            <pc:docMk/>
            <pc:sldMk cId="0" sldId="262"/>
            <ac:spMk id="14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3:55.525" v="130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06.222" v="131" actId="207"/>
          <ac:spMkLst>
            <pc:docMk/>
            <pc:sldMk cId="0" sldId="262"/>
            <ac:spMk id="16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3:55.525" v="130" actId="47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06.222" v="131" actId="207"/>
          <ac:spMkLst>
            <pc:docMk/>
            <pc:sldMk cId="0" sldId="262"/>
            <ac:spMk id="18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3:55.525" v="130" actId="478"/>
          <ac:spMkLst>
            <pc:docMk/>
            <pc:sldMk cId="0" sldId="262"/>
            <ac:spMk id="19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06.222" v="131" actId="207"/>
          <ac:spMkLst>
            <pc:docMk/>
            <pc:sldMk cId="0" sldId="262"/>
            <ac:spMk id="20" creationId="{00000000-0000-0000-0000-000000000000}"/>
          </ac:spMkLst>
        </pc:spChg>
        <pc:spChg chg="add mod">
          <ac:chgData name="Consorcio Paldaca" userId="3e56ee074a93ca0a" providerId="LiveId" clId="{85A9BFF3-C257-498A-9EF8-06F019700099}" dt="2026-07-14T15:54:46.057" v="146" actId="571"/>
          <ac:spMkLst>
            <pc:docMk/>
            <pc:sldMk cId="0" sldId="262"/>
            <ac:spMk id="26" creationId="{7A0A6CFB-7EBA-CAA3-81CC-74BECD94FB00}"/>
          </ac:spMkLst>
        </pc:spChg>
        <pc:spChg chg="del">
          <ac:chgData name="Consorcio Paldaca" userId="3e56ee074a93ca0a" providerId="LiveId" clId="{85A9BFF3-C257-498A-9EF8-06F019700099}" dt="2026-07-14T15:54:27.731" v="139" actId="478"/>
          <ac:spMkLst>
            <pc:docMk/>
            <pc:sldMk cId="0" sldId="262"/>
            <ac:spMk id="29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4:26.548" v="138" actId="478"/>
          <ac:spMkLst>
            <pc:docMk/>
            <pc:sldMk cId="0" sldId="262"/>
            <ac:spMk id="31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32.015" v="140" actId="207"/>
          <ac:spMkLst>
            <pc:docMk/>
            <pc:sldMk cId="0" sldId="262"/>
            <ac:spMk id="32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4:23.380" v="136" actId="478"/>
          <ac:spMkLst>
            <pc:docMk/>
            <pc:sldMk cId="0" sldId="262"/>
            <ac:spMk id="33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32.015" v="140" actId="207"/>
          <ac:spMkLst>
            <pc:docMk/>
            <pc:sldMk cId="0" sldId="262"/>
            <ac:spMk id="34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4:24.863" v="137" actId="478"/>
          <ac:spMkLst>
            <pc:docMk/>
            <pc:sldMk cId="0" sldId="262"/>
            <ac:spMk id="35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32.015" v="140" actId="207"/>
          <ac:spMkLst>
            <pc:docMk/>
            <pc:sldMk cId="0" sldId="262"/>
            <ac:spMk id="36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4:38.132" v="141" actId="478"/>
          <ac:spMkLst>
            <pc:docMk/>
            <pc:sldMk cId="0" sldId="262"/>
            <ac:spMk id="45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4:39.252" v="142" actId="478"/>
          <ac:spMkLst>
            <pc:docMk/>
            <pc:sldMk cId="0" sldId="262"/>
            <ac:spMk id="47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48.759" v="147" actId="207"/>
          <ac:spMkLst>
            <pc:docMk/>
            <pc:sldMk cId="0" sldId="262"/>
            <ac:spMk id="48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4:39.965" v="143" actId="478"/>
          <ac:spMkLst>
            <pc:docMk/>
            <pc:sldMk cId="0" sldId="262"/>
            <ac:spMk id="49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48.759" v="147" actId="207"/>
          <ac:spMkLst>
            <pc:docMk/>
            <pc:sldMk cId="0" sldId="262"/>
            <ac:spMk id="50" creationId="{00000000-0000-0000-0000-000000000000}"/>
          </ac:spMkLst>
        </pc:spChg>
        <pc:spChg chg="del">
          <ac:chgData name="Consorcio Paldaca" userId="3e56ee074a93ca0a" providerId="LiveId" clId="{85A9BFF3-C257-498A-9EF8-06F019700099}" dt="2026-07-14T15:54:40.916" v="144" actId="478"/>
          <ac:spMkLst>
            <pc:docMk/>
            <pc:sldMk cId="0" sldId="262"/>
            <ac:spMk id="51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4:48.759" v="147" actId="207"/>
          <ac:spMkLst>
            <pc:docMk/>
            <pc:sldMk cId="0" sldId="262"/>
            <ac:spMk id="52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37.585" v="149" actId="207"/>
          <ac:spMkLst>
            <pc:docMk/>
            <pc:sldMk cId="0" sldId="262"/>
            <ac:spMk id="61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13.258" v="148" actId="207"/>
          <ac:spMkLst>
            <pc:docMk/>
            <pc:sldMk cId="0" sldId="262"/>
            <ac:spMk id="63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37.585" v="149" actId="207"/>
          <ac:spMkLst>
            <pc:docMk/>
            <pc:sldMk cId="0" sldId="262"/>
            <ac:spMk id="64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13.258" v="148" actId="207"/>
          <ac:spMkLst>
            <pc:docMk/>
            <pc:sldMk cId="0" sldId="262"/>
            <ac:spMk id="66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37.585" v="149" actId="207"/>
          <ac:spMkLst>
            <pc:docMk/>
            <pc:sldMk cId="0" sldId="262"/>
            <ac:spMk id="67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13.258" v="148" actId="207"/>
          <ac:spMkLst>
            <pc:docMk/>
            <pc:sldMk cId="0" sldId="262"/>
            <ac:spMk id="69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37.585" v="149" actId="207"/>
          <ac:spMkLst>
            <pc:docMk/>
            <pc:sldMk cId="0" sldId="262"/>
            <ac:spMk id="70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13.258" v="148" actId="207"/>
          <ac:spMkLst>
            <pc:docMk/>
            <pc:sldMk cId="0" sldId="262"/>
            <ac:spMk id="72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37.585" v="149" actId="207"/>
          <ac:spMkLst>
            <pc:docMk/>
            <pc:sldMk cId="0" sldId="262"/>
            <ac:spMk id="73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13.258" v="148" actId="207"/>
          <ac:spMkLst>
            <pc:docMk/>
            <pc:sldMk cId="0" sldId="262"/>
            <ac:spMk id="75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37.585" v="149" actId="207"/>
          <ac:spMkLst>
            <pc:docMk/>
            <pc:sldMk cId="0" sldId="262"/>
            <ac:spMk id="76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5:13.258" v="148" actId="207"/>
          <ac:spMkLst>
            <pc:docMk/>
            <pc:sldMk cId="0" sldId="262"/>
            <ac:spMk id="78" creationId="{00000000-0000-0000-0000-000000000000}"/>
          </ac:spMkLst>
        </pc:spChg>
        <pc:spChg chg="add mod">
          <ac:chgData name="Consorcio Paldaca" userId="3e56ee074a93ca0a" providerId="LiveId" clId="{85A9BFF3-C257-498A-9EF8-06F019700099}" dt="2026-07-14T15:54:46.057" v="146" actId="571"/>
          <ac:spMkLst>
            <pc:docMk/>
            <pc:sldMk cId="0" sldId="262"/>
            <ac:spMk id="80" creationId="{ED3E51C4-CBEF-6D7F-7FED-B9D2BDE42523}"/>
          </ac:spMkLst>
        </pc:spChg>
      </pc:sldChg>
      <pc:sldChg chg="modSp mod modNotesTx">
        <pc:chgData name="Consorcio Paldaca" userId="3e56ee074a93ca0a" providerId="LiveId" clId="{85A9BFF3-C257-498A-9EF8-06F019700099}" dt="2026-07-14T15:57:55.644" v="166" actId="20577"/>
        <pc:sldMkLst>
          <pc:docMk/>
          <pc:sldMk cId="0" sldId="264"/>
        </pc:sldMkLst>
        <pc:spChg chg="mod">
          <ac:chgData name="Consorcio Paldaca" userId="3e56ee074a93ca0a" providerId="LiveId" clId="{85A9BFF3-C257-498A-9EF8-06F019700099}" dt="2026-07-14T15:57:05.840" v="153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7:05.327" v="152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7:05.327" v="152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7:05.327" v="152" actId="2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7:05.327" v="152" actId="20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7:05.327" v="152" actId="20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7:55.644" v="166" actId="20577"/>
          <ac:spMkLst>
            <pc:docMk/>
            <pc:sldMk cId="0" sldId="264"/>
            <ac:spMk id="31" creationId="{00000000-0000-0000-0000-000000000000}"/>
          </ac:spMkLst>
        </pc:spChg>
      </pc:sldChg>
      <pc:sldChg chg="addSp delSp modSp mod modNotesTx">
        <pc:chgData name="Consorcio Paldaca" userId="3e56ee074a93ca0a" providerId="LiveId" clId="{85A9BFF3-C257-498A-9EF8-06F019700099}" dt="2026-07-14T15:57:49.821" v="164" actId="20577"/>
        <pc:sldMkLst>
          <pc:docMk/>
          <pc:sldMk cId="0" sldId="265"/>
        </pc:sldMkLst>
        <pc:spChg chg="mod ord">
          <ac:chgData name="Consorcio Paldaca" userId="3e56ee074a93ca0a" providerId="LiveId" clId="{85A9BFF3-C257-498A-9EF8-06F019700099}" dt="2026-06-25T12:52:57" v="112" actId="1037"/>
          <ac:spMkLst>
            <pc:docMk/>
            <pc:sldMk cId="0" sldId="265"/>
            <ac:spMk id="3" creationId="{00000000-0000-0000-0000-000000000000}"/>
          </ac:spMkLst>
        </pc:spChg>
        <pc:spChg chg="mod">
          <ac:chgData name="Consorcio Paldaca" userId="3e56ee074a93ca0a" providerId="LiveId" clId="{85A9BFF3-C257-498A-9EF8-06F019700099}" dt="2026-06-25T12:52:41.739" v="101" actId="10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Consorcio Paldaca" userId="3e56ee074a93ca0a" providerId="LiveId" clId="{85A9BFF3-C257-498A-9EF8-06F019700099}" dt="2026-06-25T12:49:39.842" v="43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Consorcio Paldaca" userId="3e56ee074a93ca0a" providerId="LiveId" clId="{85A9BFF3-C257-498A-9EF8-06F019700099}" dt="2026-06-25T12:49:53.086" v="45" actId="207"/>
          <ac:spMkLst>
            <pc:docMk/>
            <pc:sldMk cId="0" sldId="265"/>
            <ac:spMk id="9" creationId="{00000000-0000-0000-0000-000000000000}"/>
          </ac:spMkLst>
        </pc:spChg>
        <pc:spChg chg="mod">
          <ac:chgData name="Consorcio Paldaca" userId="3e56ee074a93ca0a" providerId="LiveId" clId="{85A9BFF3-C257-498A-9EF8-06F019700099}" dt="2026-07-14T15:57:49.821" v="164" actId="20577"/>
          <ac:spMkLst>
            <pc:docMk/>
            <pc:sldMk cId="0" sldId="265"/>
            <ac:spMk id="11" creationId="{00000000-0000-0000-0000-000000000000}"/>
          </ac:spMkLst>
        </pc:spChg>
        <pc:spChg chg="add del mod">
          <ac:chgData name="Consorcio Paldaca" userId="3e56ee074a93ca0a" providerId="LiveId" clId="{85A9BFF3-C257-498A-9EF8-06F019700099}" dt="2026-06-25T12:51:10.104" v="76"/>
          <ac:spMkLst>
            <pc:docMk/>
            <pc:sldMk cId="0" sldId="265"/>
            <ac:spMk id="12" creationId="{00000000-0000-0000-0000-000000000000}"/>
          </ac:spMkLst>
        </pc:spChg>
        <pc:spChg chg="add mod">
          <ac:chgData name="Consorcio Paldaca" userId="3e56ee074a93ca0a" providerId="LiveId" clId="{85A9BFF3-C257-498A-9EF8-06F019700099}" dt="2026-06-25T12:55:38" v="119" actId="14100"/>
          <ac:spMkLst>
            <pc:docMk/>
            <pc:sldMk cId="0" sldId="265"/>
            <ac:spMk id="21" creationId="{AC39E036-4667-867C-9597-6CA81F612A19}"/>
          </ac:spMkLst>
        </pc:spChg>
        <pc:spChg chg="add mod">
          <ac:chgData name="Consorcio Paldaca" userId="3e56ee074a93ca0a" providerId="LiveId" clId="{85A9BFF3-C257-498A-9EF8-06F019700099}" dt="2026-06-25T12:55:16.296" v="117" actId="14100"/>
          <ac:spMkLst>
            <pc:docMk/>
            <pc:sldMk cId="0" sldId="265"/>
            <ac:spMk id="22" creationId="{B43F0C85-24FD-3489-656E-1A5F0A002816}"/>
          </ac:spMkLst>
        </pc:spChg>
        <pc:picChg chg="add ord">
          <ac:chgData name="Consorcio Paldaca" userId="3e56ee074a93ca0a" providerId="LiveId" clId="{85A9BFF3-C257-498A-9EF8-06F019700099}" dt="2026-06-25T12:49:15.565" v="42" actId="167"/>
          <ac:picMkLst>
            <pc:docMk/>
            <pc:sldMk cId="0" sldId="265"/>
            <ac:picMk id="15" creationId="{85E1D1D9-C2B6-B8AF-1088-5D9434E00C52}"/>
          </ac:picMkLst>
        </pc:picChg>
        <pc:picChg chg="add mod">
          <ac:chgData name="Consorcio Paldaca" userId="3e56ee074a93ca0a" providerId="LiveId" clId="{85A9BFF3-C257-498A-9EF8-06F019700099}" dt="2026-06-25T12:52:41.739" v="101" actId="1036"/>
          <ac:picMkLst>
            <pc:docMk/>
            <pc:sldMk cId="0" sldId="265"/>
            <ac:picMk id="20" creationId="{1F54C171-663E-994F-C4CE-B5ABA2EAB2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09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520F486-E61B-9E98-2DEC-5CAACA040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340" y="0"/>
            <a:ext cx="1222434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FDD4AD8C-331C-3026-4C6C-D2C2E18BDFB0}"/>
              </a:ext>
            </a:extLst>
          </p:cNvPr>
          <p:cNvSpPr/>
          <p:nvPr/>
        </p:nvSpPr>
        <p:spPr>
          <a:xfrm>
            <a:off x="-32340" y="6217920"/>
            <a:ext cx="12224340" cy="640079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457200" y="3018359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71796"/>
            <a:ext cx="5029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457200" y="3497576"/>
            <a:ext cx="413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"Juntos construimos el futuro energético."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232900" y="5760726"/>
            <a:ext cx="2781300" cy="457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78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 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35267" y="6400800"/>
            <a:ext cx="7451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kern="0" spc="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web: www.apc.com.ve · Venezuela  ·  Portugal  ·  Estados Unidos</a:t>
            </a:r>
            <a:endParaRPr lang="en-US" sz="1100" b="1" dirty="0">
              <a:solidFill>
                <a:schemeClr val="bg2"/>
              </a:solidFill>
            </a:endParaRPr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E5D87810-52C8-C3E0-B089-2B01FD729060}"/>
              </a:ext>
            </a:extLst>
          </p:cNvPr>
          <p:cNvSpPr/>
          <p:nvPr/>
        </p:nvSpPr>
        <p:spPr>
          <a:xfrm>
            <a:off x="-32340" y="1679"/>
            <a:ext cx="12224340" cy="640079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-32340" y="0"/>
            <a:ext cx="68903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FADE1B-AA0A-5EE9-BA0D-F410DF15B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10" y="687456"/>
            <a:ext cx="4349138" cy="233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·  APC Petroleum CA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Estratégico y Visión del Grupo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470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APC Petroleum CA y su propuesta de valor internacional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Corporativa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VE" sz="1400" noProof="0" dirty="0">
                <a:solidFill>
                  <a:srgbClr val="3D5A80"/>
                </a:solidFill>
                <a:latin typeface="Arial" pitchFamily="34" charset="0"/>
                <a:cs typeface="Arial" pitchFamily="34" charset="-120"/>
              </a:rPr>
              <a:t>Seis empresas especializadas, una plataforma integrada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4617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las Empresas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5138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Paldaca · ReliaTech · SSAPI · Orinoco Energy · KSP · TESCO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11887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6492240" y="1325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1325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Integrado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18470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VE" sz="1400" noProof="0" dirty="0">
                <a:solidFill>
                  <a:srgbClr val="3D5A80"/>
                </a:solidFill>
                <a:latin typeface="Arial" pitchFamily="34" charset="0"/>
                <a:cs typeface="Arial" pitchFamily="34" charset="-120"/>
              </a:rPr>
              <a:t>Mapa de sinergias y oferta de servicios combinada</a:t>
            </a:r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6492240" y="29718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54240" y="2926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 de Inversión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54240" y="34472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Financiabilidad, acceso europeo y posicionamiento internacional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ESTRATÉGICO Y VISIÓN DEL GRUPO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03520" cy="54864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APC Petroleum 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Industrial Energético Integrado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empresas especializadas que operan en sinergia en los sectores de energía, petróleo y gas, ingeniería industrial y servicios técnicos.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6382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400" b="1" noProof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s-VE" sz="1400" noProof="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 pionera, Consorcio Paldaca C.A., actúa como eje articulador proporcionando infraestructura, equipos y soporte logístico a todas las filiales.</a:t>
            </a:r>
            <a:endParaRPr lang="es-VE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39867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empresa tiene una especialidad definida y un mercado objetivo propio, eliminando la competencia interna y maximizando el valor al cliente.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modelo replica la estructura de los grandes conglomerados internacionales de servicios industriales.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3309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internacional en Venezuela, Portugal (UE) y Estados Unidos.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1A2F5E"/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498080" y="1325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Especializadas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17190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Integradas bajo un solo holding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265176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0D1B3E"/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49808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 de Operación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3182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Venezuela · Portugal · EE.UU.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411480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1A2F5E"/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6309360" y="41605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7498080" y="4251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de Trayectoria de la Empresa Pionera</a:t>
            </a:r>
            <a:endParaRPr lang="es-VE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7498080" y="47320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400" noProof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2000 · Experiencia multisectorial</a:t>
            </a:r>
            <a:endParaRPr lang="es-VE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6126480" y="557784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6400800" y="5669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VE" sz="1400" i="1" noProof="0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"Todos juntos al servicio del cliente, pero cada uno con su especialidad."</a:t>
            </a:r>
            <a:endParaRPr lang="es-VE" sz="14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CORPORATIVA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119888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C9A84C"/>
          </a:solidFill>
          <a:ln w="12700">
            <a:solidFill>
              <a:srgbClr val="E8C9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3657600" y="1270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APC PETROLEUM C.A.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0" y="162285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Venezuela  ·  Portugal  ·  Estados Unidos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029968"/>
            <a:ext cx="0" cy="32004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1211580" y="2350008"/>
            <a:ext cx="98171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1211580" y="2350008"/>
            <a:ext cx="0" cy="393192"/>
          </a:xfrm>
          <a:prstGeom prst="line">
            <a:avLst/>
          </a:prstGeom>
          <a:noFill/>
          <a:ln w="19050">
            <a:solidFill>
              <a:srgbClr val="0A78A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828800" cy="3806456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 w="19050">
            <a:solidFill>
              <a:srgbClr val="0E6C9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347472" y="2820819"/>
            <a:ext cx="1682496" cy="347468"/>
          </a:xfrm>
          <a:prstGeom prst="rect">
            <a:avLst/>
          </a:prstGeom>
          <a:solidFill>
            <a:srgbClr val="0A78AA">
              <a:alpha val="80000"/>
            </a:srgbClr>
          </a:solidFill>
          <a:ln w="12700">
            <a:solidFill>
              <a:srgbClr val="0E6C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57124" y="2863579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CONSORCIO PALDACA C.A.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9532" y="4271610"/>
            <a:ext cx="1682496" cy="371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Ingeniería, Procura y Construcción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69947"/>
            <a:ext cx="14630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347472" y="4861387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97280" cy="27432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Activa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64840" y="2350008"/>
            <a:ext cx="0" cy="393192"/>
          </a:xfrm>
          <a:prstGeom prst="line">
            <a:avLst/>
          </a:prstGeom>
          <a:noFill/>
          <a:ln w="19050">
            <a:solidFill>
              <a:srgbClr val="0A78A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/>
          <p:cNvSpPr/>
          <p:nvPr/>
        </p:nvSpPr>
        <p:spPr>
          <a:xfrm>
            <a:off x="6190485" y="2755212"/>
            <a:ext cx="1828800" cy="3806456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 w="19050">
            <a:solidFill>
              <a:srgbClr val="0E6C9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6276337" y="4240748"/>
            <a:ext cx="1682496" cy="51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2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 Industrial Gestión de Activos</a:t>
            </a:r>
            <a:endParaRPr lang="es-VE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6373365" y="4792235"/>
            <a:ext cx="14630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6263637" y="4883675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6245" y="5772732"/>
            <a:ext cx="1097280" cy="27432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Activa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80000" y="2350008"/>
            <a:ext cx="0" cy="393192"/>
          </a:xfrm>
          <a:prstGeom prst="line">
            <a:avLst/>
          </a:prstGeom>
          <a:noFill/>
          <a:ln w="19050">
            <a:solidFill>
              <a:srgbClr val="0A78A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Shape 27"/>
          <p:cNvSpPr/>
          <p:nvPr/>
        </p:nvSpPr>
        <p:spPr>
          <a:xfrm>
            <a:off x="4206240" y="2743199"/>
            <a:ext cx="1828800" cy="3806451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 w="19050">
            <a:solidFill>
              <a:srgbClr val="0E6C9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4266559" y="4245814"/>
            <a:ext cx="1682496" cy="45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Inspecciones API y Pruebas de Pozos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0" y="4780222"/>
            <a:ext cx="14630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/>
          <p:nvPr/>
        </p:nvSpPr>
        <p:spPr>
          <a:xfrm>
            <a:off x="4279392" y="4871662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5760720"/>
            <a:ext cx="1097280" cy="27432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3E"/>
                </a:solidFill>
                <a:latin typeface="Arial" pitchFamily="34" charset="0"/>
                <a:cs typeface="Arial" pitchFamily="34" charset="-120"/>
              </a:rPr>
              <a:t>Status: Activa</a:t>
            </a:r>
          </a:p>
        </p:txBody>
      </p:sp>
      <p:sp>
        <p:nvSpPr>
          <p:cNvPr id="37" name="Shape 35"/>
          <p:cNvSpPr/>
          <p:nvPr/>
        </p:nvSpPr>
        <p:spPr>
          <a:xfrm>
            <a:off x="7160260" y="2350008"/>
            <a:ext cx="0" cy="393192"/>
          </a:xfrm>
          <a:prstGeom prst="line">
            <a:avLst/>
          </a:prstGeom>
          <a:noFill/>
          <a:ln w="19050">
            <a:solidFill>
              <a:srgbClr val="0A78A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Shape 36"/>
          <p:cNvSpPr/>
          <p:nvPr/>
        </p:nvSpPr>
        <p:spPr>
          <a:xfrm>
            <a:off x="2249425" y="2742506"/>
            <a:ext cx="1828800" cy="380645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 w="19050">
            <a:solidFill>
              <a:srgbClr val="0E6C9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419" dirty="0"/>
          </a:p>
          <a:p>
            <a:endParaRPr lang="es-419" dirty="0"/>
          </a:p>
        </p:txBody>
      </p:sp>
      <p:sp>
        <p:nvSpPr>
          <p:cNvPr id="41" name="Text 39"/>
          <p:cNvSpPr/>
          <p:nvPr/>
        </p:nvSpPr>
        <p:spPr>
          <a:xfrm>
            <a:off x="2286000" y="4282681"/>
            <a:ext cx="1682496" cy="38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Fiscal de Hidrocarburos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32305" y="4779525"/>
            <a:ext cx="14630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2322577" y="4870965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615185" y="5760026"/>
            <a:ext cx="1097280" cy="27432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3E"/>
                </a:solidFill>
                <a:latin typeface="Arial" pitchFamily="34" charset="0"/>
                <a:cs typeface="Arial" pitchFamily="34" charset="-120"/>
              </a:rPr>
              <a:t>Status: Activa</a:t>
            </a:r>
          </a:p>
        </p:txBody>
      </p:sp>
      <p:sp>
        <p:nvSpPr>
          <p:cNvPr id="46" name="Shape 44"/>
          <p:cNvSpPr/>
          <p:nvPr/>
        </p:nvSpPr>
        <p:spPr>
          <a:xfrm>
            <a:off x="11032841" y="2345844"/>
            <a:ext cx="0" cy="39319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Shape 45"/>
          <p:cNvSpPr/>
          <p:nvPr/>
        </p:nvSpPr>
        <p:spPr>
          <a:xfrm>
            <a:off x="10146381" y="2739035"/>
            <a:ext cx="1828800" cy="3821263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 w="19050">
            <a:solidFill>
              <a:srgbClr val="C9A84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8" name="Shape 46"/>
          <p:cNvSpPr/>
          <p:nvPr/>
        </p:nvSpPr>
        <p:spPr>
          <a:xfrm>
            <a:off x="10213589" y="2809454"/>
            <a:ext cx="1689696" cy="347468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 sz="1200"/>
          </a:p>
        </p:txBody>
      </p:sp>
      <p:sp>
        <p:nvSpPr>
          <p:cNvPr id="49" name="Text 47"/>
          <p:cNvSpPr/>
          <p:nvPr/>
        </p:nvSpPr>
        <p:spPr>
          <a:xfrm>
            <a:off x="10256109" y="2852811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KINETIC SCALE PROJECTOS LDA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232233" y="4245364"/>
            <a:ext cx="1682496" cy="481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Representación Europea y Financiamiento UE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329261" y="4786334"/>
            <a:ext cx="14630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/>
          <p:cNvSpPr/>
          <p:nvPr/>
        </p:nvSpPr>
        <p:spPr>
          <a:xfrm>
            <a:off x="10219533" y="488804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512141" y="5756556"/>
            <a:ext cx="1097280" cy="27432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3E"/>
                </a:solidFill>
                <a:latin typeface="Arial" pitchFamily="34" charset="0"/>
                <a:cs typeface="Arial" pitchFamily="34" charset="-120"/>
              </a:rPr>
              <a:t>Status</a:t>
            </a:r>
            <a:r>
              <a:rPr lang="en-US" sz="1100" b="1">
                <a:solidFill>
                  <a:srgbClr val="0D1B3E"/>
                </a:solidFill>
                <a:latin typeface="Arial" pitchFamily="34" charset="0"/>
                <a:cs typeface="Arial" pitchFamily="34" charset="-120"/>
              </a:rPr>
              <a:t>: Activa</a:t>
            </a:r>
            <a:endParaRPr lang="en-US" sz="1100" b="1" dirty="0">
              <a:solidFill>
                <a:srgbClr val="0D1B3E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096447" y="2350008"/>
            <a:ext cx="0" cy="393192"/>
          </a:xfrm>
          <a:prstGeom prst="line">
            <a:avLst/>
          </a:prstGeom>
          <a:noFill/>
          <a:ln w="19050">
            <a:solidFill>
              <a:srgbClr val="E8C96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6" name="Shape 54"/>
          <p:cNvSpPr/>
          <p:nvPr/>
        </p:nvSpPr>
        <p:spPr>
          <a:xfrm>
            <a:off x="8171887" y="2743199"/>
            <a:ext cx="1828800" cy="3821263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 w="19050">
            <a:solidFill>
              <a:srgbClr val="E8C96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8257739" y="4162958"/>
            <a:ext cx="1682496" cy="588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y Comercio Internacional desde EE.UU.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354767" y="4811048"/>
            <a:ext cx="14630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8245039" y="490248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537647" y="5760720"/>
            <a:ext cx="1097280" cy="27432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3E"/>
                </a:solidFill>
                <a:latin typeface="Arial" pitchFamily="34" charset="0"/>
                <a:cs typeface="Arial" pitchFamily="34" charset="-120"/>
              </a:rPr>
              <a:t>Status</a:t>
            </a:r>
            <a:r>
              <a:rPr lang="en-US" sz="1100" b="1">
                <a:solidFill>
                  <a:srgbClr val="0D1B3E"/>
                </a:solidFill>
                <a:latin typeface="Arial" pitchFamily="34" charset="0"/>
                <a:cs typeface="Arial" pitchFamily="34" charset="-120"/>
              </a:rPr>
              <a:t>: Activa</a:t>
            </a:r>
            <a:endParaRPr lang="en-US" sz="1100" b="1" dirty="0">
              <a:solidFill>
                <a:srgbClr val="0D1B3E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67" name="Imagen 66">
            <a:extLst>
              <a:ext uri="{FF2B5EF4-FFF2-40B4-BE49-F238E27FC236}">
                <a16:creationId xmlns:a16="http://schemas.microsoft.com/office/drawing/2014/main" id="{DDA8D92C-1931-9D0C-96E3-51053C4DB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259912"/>
            <a:ext cx="457199" cy="457199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69148517-E719-E841-E10D-346BD132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5" y="5292106"/>
            <a:ext cx="457199" cy="457199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7396939C-1AA7-53D6-00F2-BF422BFBA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5270186"/>
            <a:ext cx="457199" cy="457199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85E3F766-44A8-83E3-4FBB-A27AC217A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925" y="5282987"/>
            <a:ext cx="457199" cy="457199"/>
          </a:xfrm>
          <a:prstGeom prst="rect">
            <a:avLst/>
          </a:prstGeom>
        </p:spPr>
      </p:pic>
      <p:pic>
        <p:nvPicPr>
          <p:cNvPr id="71" name="Imagen 70" descr="Página 2 | Bandera Portugal Redonda PNG para descargar gratis">
            <a:extLst>
              <a:ext uri="{FF2B5EF4-FFF2-40B4-BE49-F238E27FC236}">
                <a16:creationId xmlns:a16="http://schemas.microsoft.com/office/drawing/2014/main" id="{15D5AAA9-DE2C-9FA2-D75C-3FA8FACF4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670" y="5215678"/>
            <a:ext cx="490221" cy="490221"/>
          </a:xfrm>
          <a:prstGeom prst="rect">
            <a:avLst/>
          </a:prstGeom>
        </p:spPr>
      </p:pic>
      <p:pic>
        <p:nvPicPr>
          <p:cNvPr id="72" name="Imagen 71" descr="Vector De Bandera De Círculo De Estados Unidos PNG ,dibujos Bandera Circular  De Estados Unidos, Bandera Circular, Bandera De Estados Unidos PNG y Vector  para Descargar Gratis | Pngtree">
            <a:extLst>
              <a:ext uri="{FF2B5EF4-FFF2-40B4-BE49-F238E27FC236}">
                <a16:creationId xmlns:a16="http://schemas.microsoft.com/office/drawing/2014/main" id="{D18547E8-1E83-BA5A-3C5F-C5BEB053F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577" y="5273677"/>
            <a:ext cx="424820" cy="424820"/>
          </a:xfrm>
          <a:prstGeom prst="rect">
            <a:avLst/>
          </a:prstGeom>
        </p:spPr>
      </p:pic>
      <p:sp>
        <p:nvSpPr>
          <p:cNvPr id="73" name="Shape 10">
            <a:extLst>
              <a:ext uri="{FF2B5EF4-FFF2-40B4-BE49-F238E27FC236}">
                <a16:creationId xmlns:a16="http://schemas.microsoft.com/office/drawing/2014/main" id="{3C046B47-86DA-E984-DE20-E818B1A8704B}"/>
              </a:ext>
            </a:extLst>
          </p:cNvPr>
          <p:cNvSpPr/>
          <p:nvPr/>
        </p:nvSpPr>
        <p:spPr>
          <a:xfrm>
            <a:off x="6270310" y="2817696"/>
            <a:ext cx="1682496" cy="347468"/>
          </a:xfrm>
          <a:prstGeom prst="rect">
            <a:avLst/>
          </a:prstGeom>
          <a:solidFill>
            <a:srgbClr val="0A78AA">
              <a:alpha val="80000"/>
            </a:srgbClr>
          </a:solidFill>
          <a:ln w="12700">
            <a:solidFill>
              <a:srgbClr val="0E6C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6280471" y="286798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RELIATECH GLOBAL</a:t>
            </a:r>
            <a:endParaRPr lang="en-US" sz="1200" dirty="0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C44AEE7E-132A-D44D-23E5-BB68F169F0C1}"/>
              </a:ext>
            </a:extLst>
          </p:cNvPr>
          <p:cNvSpPr/>
          <p:nvPr/>
        </p:nvSpPr>
        <p:spPr>
          <a:xfrm>
            <a:off x="4279392" y="2805684"/>
            <a:ext cx="1682496" cy="347468"/>
          </a:xfrm>
          <a:prstGeom prst="rect">
            <a:avLst/>
          </a:prstGeom>
          <a:solidFill>
            <a:srgbClr val="0A78AA">
              <a:alpha val="80000"/>
            </a:srgbClr>
          </a:solidFill>
          <a:ln w="12700">
            <a:solidFill>
              <a:srgbClr val="0E6C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4279392" y="2861447"/>
            <a:ext cx="1706454" cy="252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VE" sz="1200" b="1" dirty="0">
                <a:latin typeface="Arial" pitchFamily="34" charset="0"/>
                <a:cs typeface="Arial" pitchFamily="34" charset="-120"/>
              </a:rPr>
              <a:t>SERVICIOS Y SOLUCIONES API, C.A.</a:t>
            </a:r>
            <a:endParaRPr lang="en-US" sz="1200" b="1" dirty="0">
              <a:latin typeface="Arial" pitchFamily="34" charset="0"/>
              <a:cs typeface="Arial" pitchFamily="34" charset="-120"/>
            </a:endParaRPr>
          </a:p>
        </p:txBody>
      </p:sp>
      <p:sp>
        <p:nvSpPr>
          <p:cNvPr id="75" name="Shape 10">
            <a:extLst>
              <a:ext uri="{FF2B5EF4-FFF2-40B4-BE49-F238E27FC236}">
                <a16:creationId xmlns:a16="http://schemas.microsoft.com/office/drawing/2014/main" id="{DCC01D6A-F619-7824-12EB-7E295BA6302F}"/>
              </a:ext>
            </a:extLst>
          </p:cNvPr>
          <p:cNvSpPr/>
          <p:nvPr/>
        </p:nvSpPr>
        <p:spPr>
          <a:xfrm>
            <a:off x="2322577" y="2804990"/>
            <a:ext cx="1682496" cy="347468"/>
          </a:xfrm>
          <a:prstGeom prst="rect">
            <a:avLst/>
          </a:prstGeom>
          <a:solidFill>
            <a:srgbClr val="0A78AA">
              <a:alpha val="80000"/>
            </a:srgbClr>
          </a:solidFill>
          <a:ln w="12700">
            <a:solidFill>
              <a:srgbClr val="0E6C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8"/>
          <p:cNvSpPr/>
          <p:nvPr/>
        </p:nvSpPr>
        <p:spPr>
          <a:xfrm>
            <a:off x="2335277" y="2826254"/>
            <a:ext cx="1649184" cy="305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ORINOCO ENERGY C.A.</a:t>
            </a:r>
            <a:endParaRPr lang="en-US" sz="1200" dirty="0"/>
          </a:p>
        </p:txBody>
      </p:sp>
      <p:sp>
        <p:nvSpPr>
          <p:cNvPr id="76" name="Shape 46">
            <a:extLst>
              <a:ext uri="{FF2B5EF4-FFF2-40B4-BE49-F238E27FC236}">
                <a16:creationId xmlns:a16="http://schemas.microsoft.com/office/drawing/2014/main" id="{118E18ED-91F3-F0DD-CAEA-E22844D609B9}"/>
              </a:ext>
            </a:extLst>
          </p:cNvPr>
          <p:cNvSpPr/>
          <p:nvPr/>
        </p:nvSpPr>
        <p:spPr>
          <a:xfrm>
            <a:off x="8257739" y="2822182"/>
            <a:ext cx="1665738" cy="347468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 sz="1200"/>
          </a:p>
        </p:txBody>
      </p:sp>
      <p:sp>
        <p:nvSpPr>
          <p:cNvPr id="58" name="Text 56"/>
          <p:cNvSpPr/>
          <p:nvPr/>
        </p:nvSpPr>
        <p:spPr>
          <a:xfrm>
            <a:off x="8257739" y="285897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TRADE ENERGY &amp; SERVICES CO.</a:t>
            </a:r>
            <a:endParaRPr lang="en-US" sz="12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0818AF6A-F616-3D91-2CC7-662130B88D9B}"/>
              </a:ext>
            </a:extLst>
          </p:cNvPr>
          <p:cNvSpPr/>
          <p:nvPr/>
        </p:nvSpPr>
        <p:spPr>
          <a:xfrm>
            <a:off x="402844" y="6249819"/>
            <a:ext cx="1517396" cy="31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www.paldaca.com</a:t>
            </a:r>
            <a:endParaRPr lang="en-US" sz="10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CB74FE40-D24B-3120-4E52-81E53582B8DC}"/>
              </a:ext>
            </a:extLst>
          </p:cNvPr>
          <p:cNvSpPr/>
          <p:nvPr/>
        </p:nvSpPr>
        <p:spPr>
          <a:xfrm>
            <a:off x="6291576" y="6247024"/>
            <a:ext cx="1682495" cy="31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www.reliatechglobal.com</a:t>
            </a:r>
            <a:endParaRPr lang="en-US" sz="10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85A60479-2CCE-D81B-599B-307AA45063E4}"/>
              </a:ext>
            </a:extLst>
          </p:cNvPr>
          <p:cNvSpPr/>
          <p:nvPr/>
        </p:nvSpPr>
        <p:spPr>
          <a:xfrm>
            <a:off x="4279391" y="6249189"/>
            <a:ext cx="1682495" cy="31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www.ssapico.com</a:t>
            </a:r>
            <a:endParaRPr lang="en-US" sz="10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444038C2-D977-59C3-2C1B-85D195DD32E8}"/>
              </a:ext>
            </a:extLst>
          </p:cNvPr>
          <p:cNvSpPr/>
          <p:nvPr/>
        </p:nvSpPr>
        <p:spPr>
          <a:xfrm>
            <a:off x="2311910" y="6234318"/>
            <a:ext cx="1682495" cy="31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www.orinoconrg.com</a:t>
            </a:r>
            <a:endParaRPr lang="en-US" sz="10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E9252E3A-126B-DE3B-A7FC-284C897C4481}"/>
              </a:ext>
            </a:extLst>
          </p:cNvPr>
          <p:cNvSpPr/>
          <p:nvPr/>
        </p:nvSpPr>
        <p:spPr>
          <a:xfrm>
            <a:off x="10230709" y="6230848"/>
            <a:ext cx="1682495" cy="31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www.ksprojectos.pt</a:t>
            </a:r>
            <a:endParaRPr lang="en-US" sz="10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1F20E0F8-71B3-2A19-F00A-36B4A77A6776}"/>
              </a:ext>
            </a:extLst>
          </p:cNvPr>
          <p:cNvSpPr/>
          <p:nvPr/>
        </p:nvSpPr>
        <p:spPr>
          <a:xfrm>
            <a:off x="8240982" y="6247024"/>
            <a:ext cx="1682495" cy="31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www.tesco.us.com</a:t>
            </a:r>
            <a:endParaRPr lang="en-US" sz="100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48CE50AE-3061-7A89-AE45-E9A3BA37C4B8}"/>
              </a:ext>
            </a:extLst>
          </p:cNvPr>
          <p:cNvSpPr/>
          <p:nvPr/>
        </p:nvSpPr>
        <p:spPr>
          <a:xfrm>
            <a:off x="5193792" y="1830250"/>
            <a:ext cx="1682495" cy="31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http://www.apc.</a:t>
            </a: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com.ve</a:t>
            </a:r>
            <a:endParaRPr lang="en-US" sz="1000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7FCCECF-4389-1EE4-711E-1F1E9EDB3CF7}"/>
              </a:ext>
            </a:extLst>
          </p:cNvPr>
          <p:cNvSpPr/>
          <p:nvPr/>
        </p:nvSpPr>
        <p:spPr>
          <a:xfrm>
            <a:off x="284479" y="3311029"/>
            <a:ext cx="1809502" cy="8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79" name="Imagen 78">
            <a:extLst>
              <a:ext uri="{FF2B5EF4-FFF2-40B4-BE49-F238E27FC236}">
                <a16:creationId xmlns:a16="http://schemas.microsoft.com/office/drawing/2014/main" id="{F9B16080-ED5F-E066-BBDD-5F9E6EE6A18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409" r="2549" b="18366"/>
          <a:stretch>
            <a:fillRect/>
          </a:stretch>
        </p:blipFill>
        <p:spPr>
          <a:xfrm>
            <a:off x="293069" y="3530232"/>
            <a:ext cx="1713660" cy="385575"/>
          </a:xfrm>
          <a:prstGeom prst="rect">
            <a:avLst/>
          </a:prstGeom>
        </p:spPr>
      </p:pic>
      <p:sp>
        <p:nvSpPr>
          <p:cNvPr id="53" name="Rectángulo 52">
            <a:extLst>
              <a:ext uri="{FF2B5EF4-FFF2-40B4-BE49-F238E27FC236}">
                <a16:creationId xmlns:a16="http://schemas.microsoft.com/office/drawing/2014/main" id="{71C2814E-9E45-74FD-3B3E-1F4A07B10CA7}"/>
              </a:ext>
            </a:extLst>
          </p:cNvPr>
          <p:cNvSpPr/>
          <p:nvPr/>
        </p:nvSpPr>
        <p:spPr>
          <a:xfrm>
            <a:off x="2257420" y="3311029"/>
            <a:ext cx="1809502" cy="8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84" name="Imagen 83">
            <a:extLst>
              <a:ext uri="{FF2B5EF4-FFF2-40B4-BE49-F238E27FC236}">
                <a16:creationId xmlns:a16="http://schemas.microsoft.com/office/drawing/2014/main" id="{61AC93DE-655D-AF59-6573-DFD1776E3C9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8146" b="31853"/>
          <a:stretch>
            <a:fillRect/>
          </a:stretch>
        </p:blipFill>
        <p:spPr>
          <a:xfrm>
            <a:off x="2353362" y="3387777"/>
            <a:ext cx="1575203" cy="629259"/>
          </a:xfrm>
          <a:prstGeom prst="rect">
            <a:avLst/>
          </a:prstGeom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1881E205-09E4-B4E3-155A-4D7CD7A150EC}"/>
              </a:ext>
            </a:extLst>
          </p:cNvPr>
          <p:cNvSpPr/>
          <p:nvPr/>
        </p:nvSpPr>
        <p:spPr>
          <a:xfrm>
            <a:off x="4219524" y="3311029"/>
            <a:ext cx="1809502" cy="8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83" name="Imagen 82">
            <a:extLst>
              <a:ext uri="{FF2B5EF4-FFF2-40B4-BE49-F238E27FC236}">
                <a16:creationId xmlns:a16="http://schemas.microsoft.com/office/drawing/2014/main" id="{E600B4CC-AA19-2F20-0FDA-0A96EC4F32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2979" y="3327832"/>
            <a:ext cx="629656" cy="738485"/>
          </a:xfrm>
          <a:prstGeom prst="rect">
            <a:avLst/>
          </a:prstGeom>
        </p:spPr>
      </p:pic>
      <p:sp>
        <p:nvSpPr>
          <p:cNvPr id="64" name="Rectángulo 63">
            <a:extLst>
              <a:ext uri="{FF2B5EF4-FFF2-40B4-BE49-F238E27FC236}">
                <a16:creationId xmlns:a16="http://schemas.microsoft.com/office/drawing/2014/main" id="{F68A1634-BFA1-841B-1055-6910B698A39F}"/>
              </a:ext>
            </a:extLst>
          </p:cNvPr>
          <p:cNvSpPr/>
          <p:nvPr/>
        </p:nvSpPr>
        <p:spPr>
          <a:xfrm>
            <a:off x="6200133" y="3311029"/>
            <a:ext cx="1809502" cy="8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80" name="Imagen 79">
            <a:extLst>
              <a:ext uri="{FF2B5EF4-FFF2-40B4-BE49-F238E27FC236}">
                <a16:creationId xmlns:a16="http://schemas.microsoft.com/office/drawing/2014/main" id="{9AAB1FEE-0A46-1CE3-1AAF-7DD41A7FAB7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0287" t="33107" r="22283" b="32946"/>
          <a:stretch>
            <a:fillRect/>
          </a:stretch>
        </p:blipFill>
        <p:spPr>
          <a:xfrm>
            <a:off x="6472568" y="3346089"/>
            <a:ext cx="1262587" cy="746326"/>
          </a:xfrm>
          <a:prstGeom prst="rect">
            <a:avLst/>
          </a:prstGeom>
        </p:spPr>
      </p:pic>
      <p:sp>
        <p:nvSpPr>
          <p:cNvPr id="66" name="Rectángulo 65">
            <a:extLst>
              <a:ext uri="{FF2B5EF4-FFF2-40B4-BE49-F238E27FC236}">
                <a16:creationId xmlns:a16="http://schemas.microsoft.com/office/drawing/2014/main" id="{FA905DE7-6F8F-400F-EC77-0C61A0920BEE}"/>
              </a:ext>
            </a:extLst>
          </p:cNvPr>
          <p:cNvSpPr/>
          <p:nvPr/>
        </p:nvSpPr>
        <p:spPr>
          <a:xfrm>
            <a:off x="8177477" y="3311029"/>
            <a:ext cx="1823209" cy="8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86" name="Imagen 85">
            <a:extLst>
              <a:ext uri="{FF2B5EF4-FFF2-40B4-BE49-F238E27FC236}">
                <a16:creationId xmlns:a16="http://schemas.microsoft.com/office/drawing/2014/main" id="{DAEC9207-CC0D-B257-6124-D1DB2642D1C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4428" t="12566" r="19123" b="11384"/>
          <a:stretch>
            <a:fillRect/>
          </a:stretch>
        </p:blipFill>
        <p:spPr>
          <a:xfrm>
            <a:off x="8802758" y="3321680"/>
            <a:ext cx="592457" cy="798177"/>
          </a:xfrm>
          <a:prstGeom prst="rect">
            <a:avLst/>
          </a:prstGeom>
        </p:spPr>
      </p:pic>
      <p:sp>
        <p:nvSpPr>
          <p:cNvPr id="77" name="Rectángulo 76">
            <a:extLst>
              <a:ext uri="{FF2B5EF4-FFF2-40B4-BE49-F238E27FC236}">
                <a16:creationId xmlns:a16="http://schemas.microsoft.com/office/drawing/2014/main" id="{929D1E87-003A-5013-BFB6-533D1513F4B4}"/>
              </a:ext>
            </a:extLst>
          </p:cNvPr>
          <p:cNvSpPr/>
          <p:nvPr/>
        </p:nvSpPr>
        <p:spPr>
          <a:xfrm>
            <a:off x="10155906" y="3318202"/>
            <a:ext cx="1809502" cy="823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85" name="Imagen 84">
            <a:extLst>
              <a:ext uri="{FF2B5EF4-FFF2-40B4-BE49-F238E27FC236}">
                <a16:creationId xmlns:a16="http://schemas.microsoft.com/office/drawing/2014/main" id="{A256F07E-3900-5FAE-EAF5-990C259952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7291" y="3408527"/>
            <a:ext cx="1230043" cy="6150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3">
            <a:extLst>
              <a:ext uri="{FF2B5EF4-FFF2-40B4-BE49-F238E27FC236}">
                <a16:creationId xmlns:a16="http://schemas.microsoft.com/office/drawing/2014/main" id="{637C6F43-87EC-3254-F861-6E58D88258A6}"/>
              </a:ext>
            </a:extLst>
          </p:cNvPr>
          <p:cNvSpPr/>
          <p:nvPr/>
        </p:nvSpPr>
        <p:spPr>
          <a:xfrm>
            <a:off x="4284980" y="1146476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8AE717A1-930A-F615-F23A-445BE5E878FE}"/>
              </a:ext>
            </a:extLst>
          </p:cNvPr>
          <p:cNvSpPr/>
          <p:nvPr/>
        </p:nvSpPr>
        <p:spPr>
          <a:xfrm>
            <a:off x="315416" y="1108376"/>
            <a:ext cx="3749040" cy="55245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LAS EMPRESAS  ·  Operaciones en Venezuela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5416" y="1143000"/>
            <a:ext cx="3749040" cy="4572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7" name="Text 5"/>
          <p:cNvSpPr/>
          <p:nvPr/>
        </p:nvSpPr>
        <p:spPr>
          <a:xfrm>
            <a:off x="414870" y="1161288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CONSORCIO PALDACA C.A.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7335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· Procura · Construcción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2000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377440"/>
            <a:ext cx="3383280" cy="0"/>
          </a:xfrm>
          <a:prstGeom prst="line">
            <a:avLst/>
          </a:prstGeom>
          <a:noFill/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84048" y="245059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Principales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76148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100" b="1" noProof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s-VE" sz="1100" noProof="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integral de proyectos IPC: procesos, mecánica, civil, tuberías, instrumentación, electricidad</a:t>
            </a:r>
            <a:endParaRPr lang="es-VE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384048" y="335584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físico del grupo: oficinas, taller, almacén, equipos livianos y pesados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95020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ancla que proporciona infraestructura a todas las entidades del grupo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454456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en sectores petrolero, petroquímico, energético, gasífero e industrial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5394960"/>
            <a:ext cx="3529584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 sz="1200"/>
          </a:p>
        </p:txBody>
      </p:sp>
      <p:sp>
        <p:nvSpPr>
          <p:cNvPr id="17" name="Text 15"/>
          <p:cNvSpPr/>
          <p:nvPr/>
        </p:nvSpPr>
        <p:spPr>
          <a:xfrm>
            <a:off x="457200" y="542239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r>
              <a:rPr lang="en-US" sz="1000" i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del grupo con capacidad IPC de ciclo completo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84980" y="1146476"/>
            <a:ext cx="3749040" cy="5486400"/>
          </a:xfrm>
          <a:prstGeom prst="roundRect">
            <a:avLst>
              <a:gd name="adj" fmla="val 1951"/>
            </a:avLst>
          </a:prstGeom>
          <a:noFill/>
          <a:ln/>
        </p:spPr>
        <p:txBody>
          <a:bodyPr wrap="square" lIns="0" tIns="0" rIns="0" bIns="0" rtlCol="0" anchor="ctr"/>
          <a:lstStyle/>
          <a:p>
            <a:endParaRPr lang="es-419" sz="1200" i="1">
              <a:solidFill>
                <a:srgbClr val="3D5A80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284980" y="1146476"/>
            <a:ext cx="3749040" cy="4572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31"/>
          <p:cNvSpPr/>
          <p:nvPr/>
        </p:nvSpPr>
        <p:spPr>
          <a:xfrm>
            <a:off x="4394708" y="1164764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ORINOCO ENERGY C.A.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94708" y="1676828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VE" sz="1200" i="1" noProof="0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</a:rPr>
              <a:t>Medición Fiscal · Instrumentación</a:t>
            </a:r>
          </a:p>
        </p:txBody>
      </p:sp>
      <p:sp>
        <p:nvSpPr>
          <p:cNvPr id="35" name="Text 33"/>
          <p:cNvSpPr/>
          <p:nvPr/>
        </p:nvSpPr>
        <p:spPr>
          <a:xfrm>
            <a:off x="4394708" y="206087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Fundada</a:t>
            </a:r>
            <a:r>
              <a:rPr lang="en-US" sz="105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: 2018</a:t>
            </a:r>
            <a:endParaRPr lang="en-US" sz="105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394708" y="2380916"/>
            <a:ext cx="3383280" cy="0"/>
          </a:xfrm>
          <a:prstGeom prst="line">
            <a:avLst/>
          </a:prstGeom>
          <a:noFill/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4394708" y="2454068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Principales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94708" y="2764964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ejecución de proyectos de medición fiscal de hidrocarburos líquidos y gaseosos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94708" y="3359324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e instalación de caudalímetros, transductores y sistemas SCADA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94708" y="397423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instrumentación aplicada a la industria petrolera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94708" y="4548044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Suministro de personal técnico especializado (asistencia técnica profesional)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94708" y="5398436"/>
            <a:ext cx="3529584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 sz="1200"/>
          </a:p>
        </p:txBody>
      </p:sp>
      <p:sp>
        <p:nvSpPr>
          <p:cNvPr id="43" name="Text 41"/>
          <p:cNvSpPr/>
          <p:nvPr/>
        </p:nvSpPr>
        <p:spPr>
          <a:xfrm>
            <a:off x="4467860" y="542586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b="1" i="1" noProof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r>
              <a:rPr lang="es-VE" sz="1000" i="1" noProof="0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madura con capacidad operativa y comercial</a:t>
            </a:r>
            <a:endParaRPr lang="es-VE" sz="10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8B81DFE-4E11-3B00-8EE1-CF761BC173E5}"/>
              </a:ext>
            </a:extLst>
          </p:cNvPr>
          <p:cNvSpPr/>
          <p:nvPr/>
        </p:nvSpPr>
        <p:spPr>
          <a:xfrm>
            <a:off x="8244000" y="1132726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7" name="Shape 16"/>
          <p:cNvSpPr/>
          <p:nvPr/>
        </p:nvSpPr>
        <p:spPr>
          <a:xfrm>
            <a:off x="8223452" y="1143000"/>
            <a:ext cx="3749040" cy="5486400"/>
          </a:xfrm>
          <a:prstGeom prst="roundRect">
            <a:avLst>
              <a:gd name="adj" fmla="val 1951"/>
            </a:avLst>
          </a:prstGeom>
          <a:noFill/>
          <a:ln/>
        </p:spPr>
        <p:txBody>
          <a:bodyPr wrap="square" lIns="0" tIns="0" rIns="0" bIns="0" rtlCol="0" anchor="ctr"/>
          <a:lstStyle/>
          <a:p>
            <a:endParaRPr lang="es-419" sz="1200" i="1">
              <a:solidFill>
                <a:srgbClr val="3D5A80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48" name="Shape 17"/>
          <p:cNvSpPr/>
          <p:nvPr/>
        </p:nvSpPr>
        <p:spPr>
          <a:xfrm>
            <a:off x="8223452" y="1143000"/>
            <a:ext cx="3769588" cy="4572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18"/>
          <p:cNvSpPr/>
          <p:nvPr/>
        </p:nvSpPr>
        <p:spPr>
          <a:xfrm>
            <a:off x="8333180" y="11612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Y SOLUCIONES API C.A. (SSAPI)</a:t>
            </a:r>
            <a:endParaRPr lang="en-US" sz="1300" dirty="0"/>
          </a:p>
        </p:txBody>
      </p:sp>
      <p:sp>
        <p:nvSpPr>
          <p:cNvPr id="50" name="Text 19"/>
          <p:cNvSpPr/>
          <p:nvPr/>
        </p:nvSpPr>
        <p:spPr>
          <a:xfrm>
            <a:off x="8333180" y="167335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</a:rPr>
              <a:t>Inspección Técnica · Normas API · Pruebas de Pozos</a:t>
            </a:r>
          </a:p>
        </p:txBody>
      </p:sp>
      <p:sp>
        <p:nvSpPr>
          <p:cNvPr id="51" name="Text 20"/>
          <p:cNvSpPr/>
          <p:nvPr/>
        </p:nvSpPr>
        <p:spPr>
          <a:xfrm>
            <a:off x="8333180" y="20574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Fundada: 2023</a:t>
            </a:r>
          </a:p>
        </p:txBody>
      </p:sp>
      <p:sp>
        <p:nvSpPr>
          <p:cNvPr id="52" name="Shape 21"/>
          <p:cNvSpPr/>
          <p:nvPr/>
        </p:nvSpPr>
        <p:spPr>
          <a:xfrm>
            <a:off x="8333180" y="2377440"/>
            <a:ext cx="3383280" cy="0"/>
          </a:xfrm>
          <a:prstGeom prst="line">
            <a:avLst/>
          </a:prstGeom>
          <a:noFill/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22"/>
          <p:cNvSpPr/>
          <p:nvPr/>
        </p:nvSpPr>
        <p:spPr>
          <a:xfrm>
            <a:off x="8333180" y="245059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Principales</a:t>
            </a:r>
            <a:endParaRPr lang="en-US" sz="1200" dirty="0"/>
          </a:p>
        </p:txBody>
      </p:sp>
      <p:sp>
        <p:nvSpPr>
          <p:cNvPr id="54" name="Text 23"/>
          <p:cNvSpPr/>
          <p:nvPr/>
        </p:nvSpPr>
        <p:spPr>
          <a:xfrm>
            <a:off x="8333180" y="276148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de tanques API 653, recipientes a presión API 510, tuberías API 570</a:t>
            </a:r>
            <a:endParaRPr lang="en-US" sz="1100" dirty="0"/>
          </a:p>
        </p:txBody>
      </p:sp>
      <p:sp>
        <p:nvSpPr>
          <p:cNvPr id="55" name="Text 24"/>
          <p:cNvSpPr/>
          <p:nvPr/>
        </p:nvSpPr>
        <p:spPr>
          <a:xfrm>
            <a:off x="8333180" y="3355848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predictiva de equipos rotativos y análisis de modos de falla</a:t>
            </a:r>
            <a:endParaRPr lang="en-US" sz="1100" dirty="0"/>
          </a:p>
        </p:txBody>
      </p:sp>
      <p:sp>
        <p:nvSpPr>
          <p:cNvPr id="56" name="Text 25"/>
          <p:cNvSpPr/>
          <p:nvPr/>
        </p:nvSpPr>
        <p:spPr>
          <a:xfrm>
            <a:off x="8333180" y="3950208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pozos y toma de muestras de hidrocarburo líquido y gaseoso</a:t>
            </a:r>
            <a:endParaRPr lang="en-US" sz="1100" dirty="0"/>
          </a:p>
        </p:txBody>
      </p:sp>
      <p:sp>
        <p:nvSpPr>
          <p:cNvPr id="57" name="Text 26"/>
          <p:cNvSpPr/>
          <p:nvPr/>
        </p:nvSpPr>
        <p:spPr>
          <a:xfrm>
            <a:off x="8333180" y="454456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50.000 horas de ingeniería ejecutadas con historial comprobado</a:t>
            </a:r>
            <a:endParaRPr lang="en-US" sz="1100" dirty="0"/>
          </a:p>
        </p:txBody>
      </p:sp>
      <p:sp>
        <p:nvSpPr>
          <p:cNvPr id="58" name="Shape 27"/>
          <p:cNvSpPr/>
          <p:nvPr/>
        </p:nvSpPr>
        <p:spPr>
          <a:xfrm>
            <a:off x="8333180" y="5394960"/>
            <a:ext cx="3529584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 sz="1200"/>
          </a:p>
        </p:txBody>
      </p:sp>
      <p:sp>
        <p:nvSpPr>
          <p:cNvPr id="59" name="Text 28"/>
          <p:cNvSpPr/>
          <p:nvPr/>
        </p:nvSpPr>
        <p:spPr>
          <a:xfrm>
            <a:off x="8406332" y="542239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b="1" i="1" noProof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r>
              <a:rPr lang="es-VE" sz="1000" i="1" noProof="0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Certificaciones internacionales API 510 y API 653</a:t>
            </a:r>
            <a:endParaRPr lang="es-VE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LAS EMPRESAS  ·  </a:t>
            </a:r>
            <a:r>
              <a:rPr lang="es-VE" sz="2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y Entidades Internacionales</a:t>
            </a:r>
            <a:endParaRPr lang="es-VE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1132726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749040" cy="4572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RELIATECH GLOBAL</a:t>
            </a:r>
          </a:p>
        </p:txBody>
      </p:sp>
      <p:sp>
        <p:nvSpPr>
          <p:cNvPr id="8" name="Text 6"/>
          <p:cNvSpPr/>
          <p:nvPr/>
        </p:nvSpPr>
        <p:spPr>
          <a:xfrm>
            <a:off x="384048" y="167335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</a:rPr>
              <a:t>Confiabilidad Industrial · Gestión de Activos · Industria 4.0</a:t>
            </a:r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377440"/>
            <a:ext cx="3383280" cy="0"/>
          </a:xfrm>
          <a:prstGeom prst="line">
            <a:avLst/>
          </a:prstGeom>
          <a:noFill/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84048" y="245059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Principales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76148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▸</a:t>
            </a: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RCM – Mantenimiento Centrado en Confiabilidad bajo norma ISO 55000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35584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▸</a:t>
            </a: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plataformas IIoT para monitoreo industrial en tiempo real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95020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▸</a:t>
            </a: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FMEA de modos de falla e inspecciones predictivas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454456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▸</a:t>
            </a: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Taxonomía de datos CMMS/EAM y desarrollo de software propietario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5394960"/>
            <a:ext cx="3529584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457200" y="54223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★  </a:t>
            </a:r>
            <a:r>
              <a:rPr lang="en-US" sz="1000" i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de alto valor agregado – productos digitales escalables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114300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9" name="Shape 17"/>
          <p:cNvSpPr/>
          <p:nvPr/>
        </p:nvSpPr>
        <p:spPr>
          <a:xfrm>
            <a:off x="4251960" y="1143000"/>
            <a:ext cx="3749040" cy="4572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20" name="Text 18"/>
          <p:cNvSpPr/>
          <p:nvPr/>
        </p:nvSpPr>
        <p:spPr>
          <a:xfrm>
            <a:off x="4361688" y="1161288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KINETIC SCALE PROJECTOS LDA (KSP)</a:t>
            </a:r>
          </a:p>
        </p:txBody>
      </p:sp>
      <p:sp>
        <p:nvSpPr>
          <p:cNvPr id="21" name="Text 19"/>
          <p:cNvSpPr/>
          <p:nvPr/>
        </p:nvSpPr>
        <p:spPr>
          <a:xfrm>
            <a:off x="4361688" y="167335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Puerta de Entrada Europea · Financiamiento UE · Importación y Representación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61688" y="20574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2022 · Mealhada, Portugal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1688" y="2377440"/>
            <a:ext cx="3383280" cy="0"/>
          </a:xfrm>
          <a:prstGeom prst="line">
            <a:avLst/>
          </a:prstGeom>
          <a:noFill/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4361688" y="245059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Principales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61688" y="276148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con domicilio en la UE: acceso a banca y financiamiento europeo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61688" y="335584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Representante del grupo ante proveedores e inversionistas europeos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61688" y="395020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VE" sz="1100" b="1" noProof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s-VE" sz="1100" noProof="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Alianzas estratégicas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</a:t>
            </a:r>
            <a:r>
              <a:rPr lang="es-VE" sz="1100" noProof="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proveedores tecnológicos (Deliservices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BV, Endress+Hauser, </a:t>
            </a:r>
            <a:r>
              <a:rPr lang="es-VE" sz="1100" dirty="0">
                <a:solidFill>
                  <a:srgbClr val="2D3748"/>
                </a:solidFill>
                <a:latin typeface="Arial" pitchFamily="34" charset="0"/>
                <a:cs typeface="Arial" pitchFamily="34" charset="-120"/>
              </a:rPr>
              <a:t>Pietro Fiorentini, Siemens,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s-VE" sz="1100" noProof="0" dirty="0">
                <a:solidFill>
                  <a:srgbClr val="2D3748"/>
                </a:solidFill>
                <a:latin typeface="Arial" pitchFamily="34" charset="0"/>
                <a:cs typeface="Arial" pitchFamily="34" charset="-120"/>
              </a:rPr>
              <a:t>etc.)</a:t>
            </a:r>
            <a:endParaRPr lang="en-US" sz="1100" dirty="0">
              <a:solidFill>
                <a:srgbClr val="2D374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61688" y="454456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100" b="1" noProof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s-VE" sz="1100" noProof="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importación de materiales y tecnología hacia Venezuela</a:t>
            </a:r>
            <a:endParaRPr lang="es-VE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4361688" y="5394960"/>
            <a:ext cx="3529584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4434840" y="54223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r>
              <a:rPr lang="en-US" sz="1000" i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 para financiamiento europeo – no sujeta a restricciones OFAC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114300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2" name="Shape 30"/>
          <p:cNvSpPr/>
          <p:nvPr/>
        </p:nvSpPr>
        <p:spPr>
          <a:xfrm>
            <a:off x="8229600" y="1143000"/>
            <a:ext cx="3749040" cy="4572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33" name="Text 31"/>
          <p:cNvSpPr/>
          <p:nvPr/>
        </p:nvSpPr>
        <p:spPr>
          <a:xfrm>
            <a:off x="8339328" y="1161288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TRADE ENERGY &amp; SERVICES CO (TESCO)</a:t>
            </a:r>
          </a:p>
        </p:txBody>
      </p:sp>
      <p:sp>
        <p:nvSpPr>
          <p:cNvPr id="34" name="Text 32"/>
          <p:cNvSpPr/>
          <p:nvPr/>
        </p:nvSpPr>
        <p:spPr>
          <a:xfrm>
            <a:off x="8339328" y="167335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 desde EE.UU. · Comercio Internacional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39328" y="20574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Fundada: 2018 · Estados Unidos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39328" y="2377440"/>
            <a:ext cx="3383280" cy="0"/>
          </a:xfrm>
          <a:prstGeom prst="line">
            <a:avLst/>
          </a:prstGeom>
          <a:noFill/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8339328" y="245059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Principales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39328" y="276148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y exportación de productos industriales y energéticos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39328" y="335584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especializada de materiales y equipos en el mercado norteamericano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39328" y="395020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y consultoría para proyectos energéticos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39328" y="454456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futura para contratos con Chevron/Shell bajo cumplimiento OFAC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88096" y="5147661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Solo operaciones bajo cumplimiento OFAC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39328" y="5394960"/>
            <a:ext cx="3529584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6350">
            <a:solidFill>
              <a:srgbClr val="E8C96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42"/>
          <p:cNvSpPr/>
          <p:nvPr/>
        </p:nvSpPr>
        <p:spPr>
          <a:xfrm>
            <a:off x="8412480" y="54223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</a:t>
            </a:r>
            <a:r>
              <a:rPr lang="en-US" sz="1000" i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legal en EE.UU. lista para la expansión post-sanciones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INTEGRADO  ·  Sinergias y Cadena de Valor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103120" cy="438912"/>
          </a:xfrm>
          <a:prstGeom prst="rect">
            <a:avLst/>
          </a:prstGeom>
          <a:solidFill>
            <a:srgbClr val="C9A84C"/>
          </a:solidFill>
          <a:ln w="3810">
            <a:solidFill>
              <a:srgbClr val="E8C96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6" name="Text 4"/>
          <p:cNvSpPr/>
          <p:nvPr/>
        </p:nvSpPr>
        <p:spPr>
          <a:xfrm>
            <a:off x="347472" y="11704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143000"/>
            <a:ext cx="2926080" cy="438912"/>
          </a:xfrm>
          <a:prstGeom prst="rect">
            <a:avLst/>
          </a:prstGeom>
          <a:solidFill>
            <a:srgbClr val="C9A84C"/>
          </a:solidFill>
          <a:ln w="3810">
            <a:solidFill>
              <a:srgbClr val="E8C96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8" name="Text 6"/>
          <p:cNvSpPr/>
          <p:nvPr/>
        </p:nvSpPr>
        <p:spPr>
          <a:xfrm>
            <a:off x="2450592" y="1170432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143000"/>
            <a:ext cx="2286000" cy="438912"/>
          </a:xfrm>
          <a:prstGeom prst="rect">
            <a:avLst/>
          </a:prstGeom>
          <a:solidFill>
            <a:srgbClr val="C9A84C"/>
          </a:solidFill>
          <a:ln w="3810">
            <a:solidFill>
              <a:srgbClr val="E8C96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10" name="Text 8"/>
          <p:cNvSpPr/>
          <p:nvPr/>
        </p:nvSpPr>
        <p:spPr>
          <a:xfrm>
            <a:off x="5376672" y="11704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Principal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143000"/>
            <a:ext cx="4389120" cy="438912"/>
          </a:xfrm>
          <a:prstGeom prst="rect">
            <a:avLst/>
          </a:prstGeom>
          <a:solidFill>
            <a:srgbClr val="C9A84C"/>
          </a:solidFill>
          <a:ln w="3810">
            <a:solidFill>
              <a:srgbClr val="E8C96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12" name="Text 10"/>
          <p:cNvSpPr/>
          <p:nvPr/>
        </p:nvSpPr>
        <p:spPr>
          <a:xfrm>
            <a:off x="7662672" y="1170432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Clave al Grupo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Consorcio Paldaca C.A.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Ingeniería, Procura y Construcción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94960" y="1600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Petrolera, Petroquímica, Energética, Gasífera e Industrial</a:t>
            </a:r>
            <a:endParaRPr lang="es-VE" sz="10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0" y="1600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logístico, equipos, ejecución IPC integral para todos los proyectos del grupo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84594" y="2295144"/>
            <a:ext cx="210312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Shape 21"/>
          <p:cNvSpPr/>
          <p:nvPr/>
        </p:nvSpPr>
        <p:spPr>
          <a:xfrm>
            <a:off x="2377440" y="2295144"/>
            <a:ext cx="292608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Shape 23"/>
          <p:cNvSpPr/>
          <p:nvPr/>
        </p:nvSpPr>
        <p:spPr>
          <a:xfrm>
            <a:off x="5303520" y="2295144"/>
            <a:ext cx="228600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5"/>
          <p:cNvSpPr/>
          <p:nvPr/>
        </p:nvSpPr>
        <p:spPr>
          <a:xfrm>
            <a:off x="7589520" y="2295144"/>
            <a:ext cx="438912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365760" y="30266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SSAPI C.A.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68880" y="30266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Inspecciones API de Equipos Estáticos e Inspecciones Predictivas de Equipos Rotativos, Pruebas de Pozos y Toma de Muestras</a:t>
            </a:r>
            <a:endParaRPr lang="es-VE" sz="10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94960" y="302666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VE" sz="1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Petrolera, Petroquímica e Industrial en General</a:t>
            </a:r>
            <a:endParaRPr lang="es-VE" sz="10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80960" y="30266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técnica, normas API, puente inspección–confiabilidad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84594" y="3721608"/>
            <a:ext cx="210312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/>
          <p:cNvSpPr/>
          <p:nvPr/>
        </p:nvSpPr>
        <p:spPr>
          <a:xfrm>
            <a:off x="384048" y="23047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Orinoco Energy C.A.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77440" y="3721608"/>
            <a:ext cx="292608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8"/>
          <p:cNvSpPr/>
          <p:nvPr/>
        </p:nvSpPr>
        <p:spPr>
          <a:xfrm>
            <a:off x="2487168" y="23047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Suministro de Equipos para Medición Fiscal de Hidrocarburos e Instrumentos para Procesos</a:t>
            </a:r>
            <a:endParaRPr lang="es-VE" sz="1000" noProof="0" dirty="0"/>
          </a:p>
        </p:txBody>
      </p:sp>
      <p:sp>
        <p:nvSpPr>
          <p:cNvPr id="41" name="Shape 39"/>
          <p:cNvSpPr/>
          <p:nvPr/>
        </p:nvSpPr>
        <p:spPr>
          <a:xfrm>
            <a:off x="5303520" y="3721608"/>
            <a:ext cx="228600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40"/>
          <p:cNvSpPr/>
          <p:nvPr/>
        </p:nvSpPr>
        <p:spPr>
          <a:xfrm>
            <a:off x="5413248" y="23047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Petrolera / Medición y Control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89520" y="3721608"/>
            <a:ext cx="438912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42"/>
          <p:cNvSpPr/>
          <p:nvPr/>
        </p:nvSpPr>
        <p:spPr>
          <a:xfrm>
            <a:off x="7699248" y="23047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Instrumentación, suministro de personal técnico especializado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4531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KSP LDA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68880" y="4453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con Aliados Estratégicos y Gestión de Financiamiento UE</a:t>
            </a:r>
            <a:endParaRPr lang="es-VE" sz="10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5394960" y="44531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 EU / Banca Europea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7680960" y="44531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financiamiento europeo, importación de tecnología, credibilidad internacional</a:t>
            </a:r>
            <a:endParaRPr lang="es-VE" sz="10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84594" y="5148072"/>
            <a:ext cx="210312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/>
          <p:cNvSpPr/>
          <p:nvPr/>
        </p:nvSpPr>
        <p:spPr>
          <a:xfrm>
            <a:off x="36576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TESCO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377440" y="5148072"/>
            <a:ext cx="292608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6" name="Text 54"/>
          <p:cNvSpPr/>
          <p:nvPr/>
        </p:nvSpPr>
        <p:spPr>
          <a:xfrm>
            <a:off x="246888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 y Comercio desde EE.UU.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03520" y="5148072"/>
            <a:ext cx="228600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 sz="1000"/>
          </a:p>
        </p:txBody>
      </p:sp>
      <p:sp>
        <p:nvSpPr>
          <p:cNvPr id="58" name="Text 56"/>
          <p:cNvSpPr/>
          <p:nvPr/>
        </p:nvSpPr>
        <p:spPr>
          <a:xfrm>
            <a:off x="539496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Norteamericano y Latam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589520" y="5148072"/>
            <a:ext cx="4389120" cy="694944"/>
          </a:xfrm>
          <a:prstGeom prst="rect">
            <a:avLst/>
          </a:prstGeom>
          <a:solidFill>
            <a:srgbClr val="152846"/>
          </a:solidFill>
          <a:ln w="381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0" name="Text 58"/>
          <p:cNvSpPr/>
          <p:nvPr/>
        </p:nvSpPr>
        <p:spPr>
          <a:xfrm>
            <a:off x="7680960" y="5166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al mercado y tecnología USA bajo pleno cumplimiento OFAC</a:t>
            </a:r>
            <a:endParaRPr lang="es-VE" sz="1000" noProof="0" dirty="0"/>
          </a:p>
        </p:txBody>
      </p:sp>
      <p:sp>
        <p:nvSpPr>
          <p:cNvPr id="61" name="Shape 59"/>
          <p:cNvSpPr/>
          <p:nvPr/>
        </p:nvSpPr>
        <p:spPr>
          <a:xfrm>
            <a:off x="274320" y="59893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3">
              <a:lumMod val="20000"/>
              <a:lumOff val="80000"/>
            </a:schemeClr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2" name="Text 60"/>
          <p:cNvSpPr/>
          <p:nvPr/>
        </p:nvSpPr>
        <p:spPr>
          <a:xfrm>
            <a:off x="347472" y="6016752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 Construir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47472" y="630936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Paldaca ejecuta la obra física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Shape 62"/>
          <p:cNvSpPr/>
          <p:nvPr/>
        </p:nvSpPr>
        <p:spPr>
          <a:xfrm>
            <a:off x="2212848" y="59893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3">
              <a:lumMod val="20000"/>
              <a:lumOff val="80000"/>
            </a:schemeClr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5" name="Text 63"/>
          <p:cNvSpPr/>
          <p:nvPr/>
        </p:nvSpPr>
        <p:spPr>
          <a:xfrm>
            <a:off x="2286000" y="6016752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Certificar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286000" y="630936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SSAPI valida con normas API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151376" y="59893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3">
              <a:lumMod val="20000"/>
              <a:lumOff val="80000"/>
            </a:schemeClr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8" name="Text 66"/>
          <p:cNvSpPr/>
          <p:nvPr/>
        </p:nvSpPr>
        <p:spPr>
          <a:xfrm>
            <a:off x="4224528" y="6016752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Medir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224528" y="630936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Orinoco garantiza exactitud fiscal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0" name="Shape 68"/>
          <p:cNvSpPr/>
          <p:nvPr/>
        </p:nvSpPr>
        <p:spPr>
          <a:xfrm>
            <a:off x="6089904" y="59893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3">
              <a:lumMod val="20000"/>
              <a:lumOff val="80000"/>
            </a:schemeClr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6163056" y="6016752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Optimizar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163056" y="630936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ReliaTech entrega confiabilidad 4.0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3" name="Shape 71"/>
          <p:cNvSpPr/>
          <p:nvPr/>
        </p:nvSpPr>
        <p:spPr>
          <a:xfrm>
            <a:off x="8028432" y="59893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3">
              <a:lumMod val="20000"/>
              <a:lumOff val="80000"/>
            </a:schemeClr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4" name="Text 72"/>
          <p:cNvSpPr/>
          <p:nvPr/>
        </p:nvSpPr>
        <p:spPr>
          <a:xfrm>
            <a:off x="8101584" y="6016752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Financiar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101584" y="630936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KSP abre el capital europeo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6" name="Shape 74"/>
          <p:cNvSpPr/>
          <p:nvPr/>
        </p:nvSpPr>
        <p:spPr>
          <a:xfrm>
            <a:off x="9966960" y="59893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3">
              <a:lumMod val="20000"/>
              <a:lumOff val="80000"/>
            </a:schemeClr>
          </a:solidFill>
          <a:ln w="10160">
            <a:solidFill>
              <a:srgbClr val="C9A84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0040112" y="6016752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Comerciar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040112" y="630936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TESCO conecta los mercados globales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3032" y="375818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 Tech Global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86152" y="37581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0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 Industrial, Gestión de Activos e Industria 4.0</a:t>
            </a:r>
            <a:endParaRPr lang="es-VE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7698232" y="37581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digital, ISO 55000, desarrollo de software</a:t>
            </a:r>
            <a:endParaRPr lang="en-US" sz="1000" dirty="0"/>
          </a:p>
        </p:txBody>
      </p:sp>
      <p:sp>
        <p:nvSpPr>
          <p:cNvPr id="79" name="Text 32">
            <a:extLst>
              <a:ext uri="{FF2B5EF4-FFF2-40B4-BE49-F238E27FC236}">
                <a16:creationId xmlns:a16="http://schemas.microsoft.com/office/drawing/2014/main" id="{7FD2713A-C532-A0FE-D8F2-DEEFC0EC18B9}"/>
              </a:ext>
            </a:extLst>
          </p:cNvPr>
          <p:cNvSpPr/>
          <p:nvPr/>
        </p:nvSpPr>
        <p:spPr>
          <a:xfrm>
            <a:off x="5420360" y="375056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VE" sz="10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Petrolera, Petroquímica, Minera e Industrial en General</a:t>
            </a:r>
            <a:endParaRPr lang="es-VE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1118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 DE INVERSIÓN  ·  Posicionamiento Internacional y Financiabilidad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303520" cy="5349240"/>
          </a:xfrm>
          <a:prstGeom prst="roundRect">
            <a:avLst>
              <a:gd name="adj" fmla="val 1724"/>
            </a:avLst>
          </a:prstGeom>
          <a:solidFill>
            <a:srgbClr val="1A2F5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invertir o asociarse con APC Petroleum C.A.?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Capacidad Industrial Integral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+ Inspección + Confiabilidad + Medición — bajo un solo holding.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Presencia Multijurisdiccional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en Venezuela con vehículos corporativos en la UE (Portugal) y EE.UU. para contratación internacional.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753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💶 Acceso a Financiamiento Europeo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VE" sz="1100" noProof="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KSP (Portugal) permite acceder a créditos bancarios europeos bajo esquemas de internacionalización — no sujeto a OFAC.</a:t>
            </a:r>
            <a:endParaRPr lang="es-VE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44714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Momento de Mercado en Venezuela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914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Reactivación del sector petrolero en marcha. Demanda récord de inspección, medición y confiabilidad.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3675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Ventaja Tecnológica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6875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ReliaTech Global incorpora capacidades de Industria 4.0 / IIoT escasas en el mercado venezolano — escalables regionalmente.</a:t>
            </a:r>
            <a:endParaRPr lang="en-US" sz="1100" dirty="0"/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F13741FF-D1AC-5271-009E-5771778DECC3}"/>
              </a:ext>
            </a:extLst>
          </p:cNvPr>
          <p:cNvGrpSpPr/>
          <p:nvPr/>
        </p:nvGrpSpPr>
        <p:grpSpPr>
          <a:xfrm>
            <a:off x="5943600" y="5029200"/>
            <a:ext cx="5943600" cy="1417320"/>
            <a:chOff x="5943600" y="5029200"/>
            <a:chExt cx="5943600" cy="1417320"/>
          </a:xfrm>
        </p:grpSpPr>
        <p:sp>
          <p:nvSpPr>
            <p:cNvPr id="29" name="Shape 27"/>
            <p:cNvSpPr/>
            <p:nvPr/>
          </p:nvSpPr>
          <p:spPr>
            <a:xfrm>
              <a:off x="5943600" y="5029200"/>
              <a:ext cx="5943600" cy="1417320"/>
            </a:xfrm>
            <a:prstGeom prst="roundRect">
              <a:avLst>
                <a:gd name="adj" fmla="val 6452"/>
              </a:avLst>
            </a:prstGeom>
            <a:solidFill>
              <a:srgbClr val="C9A84C"/>
            </a:solidFill>
            <a:ln w="12700">
              <a:solidFill>
                <a:srgbClr val="E8C96C"/>
              </a:solidFill>
              <a:prstDash val="solid"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30" name="Text 28"/>
            <p:cNvSpPr/>
            <p:nvPr/>
          </p:nvSpPr>
          <p:spPr>
            <a:xfrm>
              <a:off x="6126480" y="507492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1B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Contacto y Próximos Pasos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126480" y="5413248"/>
              <a:ext cx="557784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0D1B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apc.com.ve 
</a:t>
              </a:r>
              <a:r>
                <a:rPr lang="es-VE" sz="1050" noProof="0" dirty="0">
                  <a:solidFill>
                    <a:srgbClr val="0D1B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Gerencia de Operaciones Estratégica</a:t>
              </a:r>
              <a:r>
                <a:rPr lang="en-US" sz="1050" dirty="0">
                  <a:solidFill>
                    <a:srgbClr val="0D1B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
Julio 2026</a:t>
              </a:r>
              <a:endParaRPr lang="en-US" sz="1050" dirty="0"/>
            </a:p>
          </p:txBody>
        </p:sp>
      </p:grpSp>
      <p:pic>
        <p:nvPicPr>
          <p:cNvPr id="33" name="Imagen 32">
            <a:extLst>
              <a:ext uri="{FF2B5EF4-FFF2-40B4-BE49-F238E27FC236}">
                <a16:creationId xmlns:a16="http://schemas.microsoft.com/office/drawing/2014/main" id="{B3CD945E-AD45-85AE-C37C-1F36D8636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66" t="30337" r="7687" b="30449"/>
          <a:stretch>
            <a:fillRect/>
          </a:stretch>
        </p:blipFill>
        <p:spPr>
          <a:xfrm>
            <a:off x="7671295" y="1126569"/>
            <a:ext cx="2222718" cy="80326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95A81141-82DD-800B-7DF6-D23915EB3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090" y="2194560"/>
            <a:ext cx="963790" cy="96379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E7E7D6A-7B12-0A93-53DB-39E289F25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867" y="3571556"/>
            <a:ext cx="1296987" cy="64757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D9CDECB-34A9-3CB2-A1E5-B00F6EDBDD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2686" b="31338"/>
          <a:stretch>
            <a:fillRect/>
          </a:stretch>
        </p:blipFill>
        <p:spPr>
          <a:xfrm>
            <a:off x="5943600" y="2293034"/>
            <a:ext cx="1863088" cy="66892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25148A9-9610-25A7-8D11-32BE78E9DFC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444" t="35531" r="22968" b="35801"/>
          <a:stretch>
            <a:fillRect/>
          </a:stretch>
        </p:blipFill>
        <p:spPr>
          <a:xfrm>
            <a:off x="10021013" y="2194560"/>
            <a:ext cx="1539566" cy="76579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D4D3D9-C388-1D16-9F66-371DA00F98F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6533" t="10832" r="20763" b="10832"/>
          <a:stretch>
            <a:fillRect/>
          </a:stretch>
        </p:blipFill>
        <p:spPr>
          <a:xfrm>
            <a:off x="9391093" y="3255343"/>
            <a:ext cx="861173" cy="1280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85E1D1D9-C2B6-B8AF-1088-5D9434E0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51"/>
            <a:ext cx="12192000" cy="6840898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548640" y="3126740"/>
            <a:ext cx="5486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"Construyendo el futuro energético de Venezuela,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visión global y raíces sólidas."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Paldaca C.A.   ·   Orinoco Energy C.A.  ·   SSAPI C.A.   ·    Relia Tech Global  ·   Kinetic Scale (KSP)   ·   Trade Energy &amp; Services Co.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10972800" cy="0"/>
          </a:xfrm>
          <a:prstGeom prst="line">
            <a:avLst/>
          </a:prstGeom>
          <a:noFill/>
          <a:ln w="6350">
            <a:solidFill>
              <a:srgbClr val="2A3D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  ·  Presentación Ejecutiva</a:t>
            </a:r>
            <a:endParaRPr 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10800" y="548640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dirty="0">
                <a:solidFill>
                  <a:srgbClr val="C9A84C"/>
                </a:solidFill>
                <a:latin typeface="Arial" pitchFamily="34" charset="0"/>
                <a:cs typeface="Arial" pitchFamily="34" charset="-120"/>
              </a:rPr>
              <a:t>www.apc.com.ve 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F54C171-663E-994F-C4CE-B5ABA2EAB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02" y="701820"/>
            <a:ext cx="4349138" cy="2333480"/>
          </a:xfrm>
          <a:prstGeom prst="rect">
            <a:avLst/>
          </a:prstGeom>
        </p:spPr>
      </p:pic>
      <p:sp>
        <p:nvSpPr>
          <p:cNvPr id="21" name="Shape 0">
            <a:extLst>
              <a:ext uri="{FF2B5EF4-FFF2-40B4-BE49-F238E27FC236}">
                <a16:creationId xmlns:a16="http://schemas.microsoft.com/office/drawing/2014/main" id="{AC39E036-4667-867C-9597-6CA81F612A19}"/>
              </a:ext>
            </a:extLst>
          </p:cNvPr>
          <p:cNvSpPr/>
          <p:nvPr/>
        </p:nvSpPr>
        <p:spPr>
          <a:xfrm>
            <a:off x="0" y="-1759"/>
            <a:ext cx="12192000" cy="5207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779"/>
            <a:ext cx="6858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B43F0C85-24FD-3489-656E-1A5F0A002816}"/>
              </a:ext>
            </a:extLst>
          </p:cNvPr>
          <p:cNvSpPr/>
          <p:nvPr/>
        </p:nvSpPr>
        <p:spPr>
          <a:xfrm>
            <a:off x="0" y="6328749"/>
            <a:ext cx="12192000" cy="5207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1396</Words>
  <Application>Microsoft Office PowerPoint</Application>
  <PresentationFormat>Panorámica</PresentationFormat>
  <Paragraphs>206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APC Petroleum CA Holding – Presentación Ejecutiva Internacional</dc:title>
  <dc:subject>PptxGenJS Presentation</dc:subject>
  <dc:creator>APC Petroleum CA Holding</dc:creator>
  <cp:lastModifiedBy>Consorcio Paldaca</cp:lastModifiedBy>
  <cp:revision>9</cp:revision>
  <dcterms:created xsi:type="dcterms:W3CDTF">2026-06-23T16:15:14Z</dcterms:created>
  <dcterms:modified xsi:type="dcterms:W3CDTF">2026-07-14T16:08:32Z</dcterms:modified>
</cp:coreProperties>
</file>